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7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0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0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1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0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19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77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26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6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57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D7456-8F70-4A94-A743-43FC07BE4FD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2304F-3394-4709-8C07-0571AA7A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5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37" y="200891"/>
            <a:ext cx="6324600" cy="914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57" y="1433080"/>
            <a:ext cx="6505575" cy="971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57" y="2722419"/>
            <a:ext cx="2047875" cy="533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8157" y="325581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If 𝐴 is an </a:t>
            </a:r>
            <a:r>
              <a:rPr lang="en-US" dirty="0" err="1" smtClean="0"/>
              <a:t>m×n</a:t>
            </a:r>
            <a:r>
              <a:rPr lang="en-US" dirty="0" smtClean="0"/>
              <a:t> matrix, then </a:t>
            </a:r>
          </a:p>
          <a:p>
            <a:pPr marL="342900" indent="-342900">
              <a:buAutoNum type="alphaLcParenBoth"/>
            </a:pPr>
            <a:r>
              <a:rPr lang="en-US" dirty="0" smtClean="0"/>
              <a:t>rank(A)=the number of leading variables or pivots </a:t>
            </a:r>
            <a:endParaRPr lang="en-US" dirty="0"/>
          </a:p>
          <a:p>
            <a:pPr marL="342900" indent="-342900">
              <a:buAutoNum type="alphaLcParenBoth"/>
            </a:pPr>
            <a:r>
              <a:rPr lang="en-US" dirty="0" smtClean="0"/>
              <a:t>nullity(𝐴)=the number of parameters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78" y="4758578"/>
            <a:ext cx="65246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43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274" y="1108364"/>
            <a:ext cx="8977744" cy="397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3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05" y="275791"/>
            <a:ext cx="4238625" cy="542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92" y="818716"/>
            <a:ext cx="3114675" cy="6572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37309" y="1678909"/>
                <a:ext cx="6096000" cy="124277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 smtClean="0"/>
                  <a:t>The null space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 smtClean="0"/>
                  <a:t> is also called the left null space of A because transposing both sides of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 smtClean="0"/>
                  <a:t>x=0 produces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 smtClean="0"/>
                  <a:t>𝐴=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 smtClean="0"/>
                  <a:t> in which the unknown is on the left.</a:t>
                </a:r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9" y="1678909"/>
                <a:ext cx="6096000" cy="1242776"/>
              </a:xfrm>
              <a:prstGeom prst="rect">
                <a:avLst/>
              </a:prstGeom>
              <a:blipFill rotWithShape="0">
                <a:blip r:embed="rId4"/>
                <a:stretch>
                  <a:fillRect l="-900" t="-2451" r="-1100" b="-3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34" y="3124653"/>
            <a:ext cx="645795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1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98" y="443344"/>
            <a:ext cx="8384166" cy="20504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648998" y="2662443"/>
                <a:ext cx="11026608" cy="20313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b="1" dirty="0" smtClean="0"/>
                  <a:t>Orthogonal means perpendicular. 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b="1" dirty="0" smtClean="0"/>
                  <a:t>Null(A) is perpendicular to Row(A). This means each vector in Null(A) is perpendicular to each vector in Row(A) </a:t>
                </a:r>
              </a:p>
              <a:p>
                <a:r>
                  <a:rPr lang="en-US" b="1" dirty="0"/>
                  <a:t> </a:t>
                </a:r>
                <a:r>
                  <a:rPr lang="en-US" b="1" dirty="0" smtClean="0"/>
                  <a:t>     and vice versa.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b="1" dirty="0" smtClean="0"/>
                  <a:t>Null(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b="1" dirty="0" smtClean="0"/>
                  <a:t>) is perpendicular to Col(A). </a:t>
                </a:r>
                <a:r>
                  <a:rPr lang="en-US" b="1" dirty="0" smtClean="0"/>
                  <a:t>This means each vector in Null(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b="1" dirty="0" smtClean="0"/>
                  <a:t>) is perpendicular to each vector in Col(A) </a:t>
                </a:r>
              </a:p>
              <a:p>
                <a:r>
                  <a:rPr lang="en-US" b="1" dirty="0" smtClean="0"/>
                  <a:t>      and vice versa.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en-US" dirty="0" smtClean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98" y="2662443"/>
                <a:ext cx="11026608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332" t="-1802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49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17" y="197427"/>
            <a:ext cx="6467475" cy="2057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04" y="2254827"/>
            <a:ext cx="651510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47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82" y="415635"/>
            <a:ext cx="10016836" cy="55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98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91" y="1081520"/>
            <a:ext cx="8271163" cy="54855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6586" y="237897"/>
            <a:ext cx="178420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Basis for Null(A):</a:t>
            </a:r>
          </a:p>
          <a:p>
            <a:endParaRPr lang="en-US" dirty="0"/>
          </a:p>
          <a:p>
            <a:r>
              <a:rPr lang="en-US" b="1" dirty="0" smtClean="0"/>
              <a:t>Solving Ax=0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89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70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7</cp:revision>
  <dcterms:created xsi:type="dcterms:W3CDTF">2025-11-04T05:37:21Z</dcterms:created>
  <dcterms:modified xsi:type="dcterms:W3CDTF">2025-11-04T05:59:14Z</dcterms:modified>
</cp:coreProperties>
</file>