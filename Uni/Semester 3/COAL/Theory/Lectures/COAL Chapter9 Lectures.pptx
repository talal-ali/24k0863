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42"/>
  </p:notesMasterIdLst>
  <p:sldIdLst>
    <p:sldId id="256" r:id="rId2"/>
    <p:sldId id="512" r:id="rId3"/>
    <p:sldId id="467" r:id="rId4"/>
    <p:sldId id="572" r:id="rId5"/>
    <p:sldId id="555" r:id="rId6"/>
    <p:sldId id="534" r:id="rId7"/>
    <p:sldId id="557" r:id="rId8"/>
    <p:sldId id="559" r:id="rId9"/>
    <p:sldId id="560" r:id="rId10"/>
    <p:sldId id="558" r:id="rId11"/>
    <p:sldId id="561" r:id="rId12"/>
    <p:sldId id="562" r:id="rId13"/>
    <p:sldId id="563" r:id="rId14"/>
    <p:sldId id="564" r:id="rId15"/>
    <p:sldId id="565" r:id="rId16"/>
    <p:sldId id="566" r:id="rId17"/>
    <p:sldId id="532" r:id="rId18"/>
    <p:sldId id="567" r:id="rId19"/>
    <p:sldId id="568" r:id="rId20"/>
    <p:sldId id="577" r:id="rId21"/>
    <p:sldId id="569" r:id="rId22"/>
    <p:sldId id="570" r:id="rId23"/>
    <p:sldId id="609" r:id="rId24"/>
    <p:sldId id="573" r:id="rId25"/>
    <p:sldId id="574" r:id="rId26"/>
    <p:sldId id="611" r:id="rId27"/>
    <p:sldId id="612" r:id="rId28"/>
    <p:sldId id="576" r:id="rId29"/>
    <p:sldId id="578" r:id="rId30"/>
    <p:sldId id="579" r:id="rId31"/>
    <p:sldId id="580" r:id="rId32"/>
    <p:sldId id="581" r:id="rId33"/>
    <p:sldId id="582" r:id="rId34"/>
    <p:sldId id="583" r:id="rId35"/>
    <p:sldId id="585" r:id="rId36"/>
    <p:sldId id="586" r:id="rId37"/>
    <p:sldId id="584" r:id="rId38"/>
    <p:sldId id="587" r:id="rId39"/>
    <p:sldId id="588" r:id="rId40"/>
    <p:sldId id="273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6340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02BBB8-8556-4E28-A092-78D44613A909}" type="datetimeFigureOut">
              <a:rPr lang="en-PK" smtClean="0"/>
              <a:t>11/28/2025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6282AE-D552-4696-B0E0-3D1D23BE643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81743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22BE7-ABD7-41AF-83C8-5AF8D5AEF966}" type="datetimeFigureOut">
              <a:rPr lang="en-PK" smtClean="0"/>
              <a:t>11/28/2025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2300F-B408-4C2B-9408-2319A05315D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65686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22BE7-ABD7-41AF-83C8-5AF8D5AEF966}" type="datetimeFigureOut">
              <a:rPr lang="en-PK" smtClean="0"/>
              <a:t>11/28/2025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2300F-B408-4C2B-9408-2319A05315D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9677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22BE7-ABD7-41AF-83C8-5AF8D5AEF966}" type="datetimeFigureOut">
              <a:rPr lang="en-PK" smtClean="0"/>
              <a:t>11/28/2025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2300F-B408-4C2B-9408-2319A05315D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73351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22BE7-ABD7-41AF-83C8-5AF8D5AEF966}" type="datetimeFigureOut">
              <a:rPr lang="en-PK" smtClean="0"/>
              <a:t>11/28/2025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2300F-B408-4C2B-9408-2319A05315D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42313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22BE7-ABD7-41AF-83C8-5AF8D5AEF966}" type="datetimeFigureOut">
              <a:rPr lang="en-PK" smtClean="0"/>
              <a:t>11/28/2025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2300F-B408-4C2B-9408-2319A05315D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34969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22BE7-ABD7-41AF-83C8-5AF8D5AEF966}" type="datetimeFigureOut">
              <a:rPr lang="en-PK" smtClean="0"/>
              <a:t>11/28/2025</a:t>
            </a:fld>
            <a:endParaRPr lang="en-PK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2300F-B408-4C2B-9408-2319A05315D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43070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22BE7-ABD7-41AF-83C8-5AF8D5AEF966}" type="datetimeFigureOut">
              <a:rPr lang="en-PK" smtClean="0"/>
              <a:t>11/28/2025</a:t>
            </a:fld>
            <a:endParaRPr lang="en-PK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2300F-B408-4C2B-9408-2319A05315D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40008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22BE7-ABD7-41AF-83C8-5AF8D5AEF966}" type="datetimeFigureOut">
              <a:rPr lang="en-PK" smtClean="0"/>
              <a:t>11/28/2025</a:t>
            </a:fld>
            <a:endParaRPr lang="en-PK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2300F-B408-4C2B-9408-2319A05315D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20861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22BE7-ABD7-41AF-83C8-5AF8D5AEF966}" type="datetimeFigureOut">
              <a:rPr lang="en-PK" smtClean="0"/>
              <a:t>11/28/2025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2300F-B408-4C2B-9408-2319A05315D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49403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22BE7-ABD7-41AF-83C8-5AF8D5AEF966}" type="datetimeFigureOut">
              <a:rPr lang="en-PK" smtClean="0"/>
              <a:t>11/28/2025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2300F-B408-4C2B-9408-2319A05315D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35033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22BE7-ABD7-41AF-83C8-5AF8D5AEF966}" type="datetimeFigureOut">
              <a:rPr lang="en-PK" smtClean="0"/>
              <a:t>11/28/2025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2300F-B408-4C2B-9408-2319A05315D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91423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22BE7-ABD7-41AF-83C8-5AF8D5AEF966}" type="datetimeFigureOut">
              <a:rPr lang="en-PK" smtClean="0"/>
              <a:t>11/28/2025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2300F-B408-4C2B-9408-2319A05315D0}" type="slidenum">
              <a:rPr lang="en-PK" smtClean="0"/>
              <a:t>‹#›</a:t>
            </a:fld>
            <a:endParaRPr lang="en-PK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40833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22BE7-ABD7-41AF-83C8-5AF8D5AEF966}" type="datetimeFigureOut">
              <a:rPr lang="en-PK" smtClean="0"/>
              <a:t>11/28/2025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2300F-B408-4C2B-9408-2319A05315D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375669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22BE7-ABD7-41AF-83C8-5AF8D5AEF966}" type="datetimeFigureOut">
              <a:rPr lang="en-PK" smtClean="0"/>
              <a:t>11/28/2025</a:t>
            </a:fld>
            <a:endParaRPr lang="en-P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2300F-B408-4C2B-9408-2319A05315D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868297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22BE7-ABD7-41AF-83C8-5AF8D5AEF966}" type="datetimeFigureOut">
              <a:rPr lang="en-PK" smtClean="0"/>
              <a:t>11/28/2025</a:t>
            </a:fld>
            <a:endParaRPr lang="en-P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2300F-B408-4C2B-9408-2319A05315D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945695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22BE7-ABD7-41AF-83C8-5AF8D5AEF966}" type="datetimeFigureOut">
              <a:rPr lang="en-PK" smtClean="0"/>
              <a:t>11/28/2025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2300F-B408-4C2B-9408-2319A05315D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114659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22BE7-ABD7-41AF-83C8-5AF8D5AEF966}" type="datetimeFigureOut">
              <a:rPr lang="en-PK" smtClean="0"/>
              <a:t>11/28/2025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2300F-B408-4C2B-9408-2319A05315D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70180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9D22BE7-ABD7-41AF-83C8-5AF8D5AEF966}" type="datetimeFigureOut">
              <a:rPr lang="en-PK" smtClean="0"/>
              <a:t>11/28/2025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82300F-B408-4C2B-9408-2319A05315D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888288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78D72-F4B5-4700-AEC0-F224D01833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4596" y="298715"/>
            <a:ext cx="8637073" cy="2541431"/>
          </a:xfrm>
        </p:spPr>
        <p:txBody>
          <a:bodyPr/>
          <a:lstStyle/>
          <a:p>
            <a:pPr algn="ctr"/>
            <a:r>
              <a:rPr lang="en-US" sz="5400" b="1" dirty="0"/>
              <a:t>EE-2003 </a:t>
            </a:r>
            <a:br>
              <a:rPr lang="en-US" sz="5400" b="1" dirty="0"/>
            </a:br>
            <a:r>
              <a:rPr lang="en-US" sz="5400" b="1" dirty="0"/>
              <a:t>Computer Organization &amp; Assembly Language</a:t>
            </a:r>
            <a:endParaRPr lang="en-PK" sz="5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17BE75-F8AE-40A5-A370-603CDFA59F0F}"/>
              </a:ext>
            </a:extLst>
          </p:cNvPr>
          <p:cNvSpPr/>
          <p:nvPr/>
        </p:nvSpPr>
        <p:spPr>
          <a:xfrm>
            <a:off x="1755807" y="3429000"/>
            <a:ext cx="773465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INSTRUCTOR</a:t>
            </a:r>
          </a:p>
          <a:p>
            <a:endParaRPr lang="en-US" sz="2400" b="1" dirty="0"/>
          </a:p>
          <a:p>
            <a:r>
              <a:rPr lang="en-US" sz="2400" b="1" dirty="0"/>
              <a:t>Engr. Aashir Mahboob</a:t>
            </a:r>
          </a:p>
          <a:p>
            <a:r>
              <a:rPr lang="en-US" sz="2400" b="1" dirty="0"/>
              <a:t>Lecturer, Department of Computer Science</a:t>
            </a:r>
          </a:p>
          <a:p>
            <a:r>
              <a:rPr lang="en-US" sz="2400" b="1" dirty="0"/>
              <a:t>FAST NUCES (Karachi)</a:t>
            </a:r>
          </a:p>
          <a:p>
            <a:r>
              <a:rPr lang="en-US" sz="2400" b="1" dirty="0"/>
              <a:t>Aashir.mahboob@nu.edu.pk</a:t>
            </a:r>
          </a:p>
          <a:p>
            <a:r>
              <a:rPr lang="en-US" b="1" dirty="0"/>
              <a:t> 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128216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613"/>
    </mc:Choice>
    <mc:Fallback xmlns="">
      <p:transition spd="slow" advTm="6961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6B4BD-F79F-4453-9914-79484D5D0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2729" y="2198614"/>
            <a:ext cx="8946541" cy="2460771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dirty="0"/>
              <a:t> </a:t>
            </a:r>
            <a:r>
              <a:rPr lang="en-US" sz="13800" b="1" cap="small" dirty="0"/>
              <a:t>Chapter 9: Strings &amp; Arrays</a:t>
            </a:r>
          </a:p>
          <a:p>
            <a:pPr marL="0" indent="0" algn="ctr">
              <a:buNone/>
            </a:pPr>
            <a:endParaRPr lang="en-PK" b="1" cap="small" dirty="0"/>
          </a:p>
        </p:txBody>
      </p:sp>
    </p:spTree>
    <p:extLst>
      <p:ext uri="{BB962C8B-B14F-4D97-AF65-F5344CB8AC3E}">
        <p14:creationId xmlns:p14="http://schemas.microsoft.com/office/powerpoint/2010/main" val="2095972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C42F-B944-4B16-ACDC-3013A371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1924"/>
          </a:xfrm>
        </p:spPr>
        <p:txBody>
          <a:bodyPr/>
          <a:lstStyle/>
          <a:p>
            <a:pPr algn="ctr"/>
            <a:r>
              <a:rPr lang="en-US" sz="3200" b="1" cap="small" dirty="0"/>
              <a:t>Strings &amp; Arrays</a:t>
            </a:r>
            <a:endParaRPr lang="en-PK" cap="smal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B4A09-3172-4E10-83B3-0AB51443A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1331259"/>
            <a:ext cx="11164186" cy="507402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String Primitive Instructions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Selected String Procedures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Two-Dimensional Arrays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Searching and Sorting Integer Arrays</a:t>
            </a:r>
          </a:p>
        </p:txBody>
      </p:sp>
    </p:spTree>
    <p:extLst>
      <p:ext uri="{BB962C8B-B14F-4D97-AF65-F5344CB8AC3E}">
        <p14:creationId xmlns:p14="http://schemas.microsoft.com/office/powerpoint/2010/main" val="3974398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6B4BD-F79F-4453-9914-79484D5D0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2729" y="2198614"/>
            <a:ext cx="8946541" cy="2460771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dirty="0"/>
              <a:t> </a:t>
            </a:r>
            <a:r>
              <a:rPr lang="en-US" sz="13800" b="1" cap="small" dirty="0"/>
              <a:t>String Primitive Instructions</a:t>
            </a:r>
          </a:p>
          <a:p>
            <a:pPr marL="0" indent="0" algn="ctr">
              <a:buNone/>
            </a:pPr>
            <a:endParaRPr lang="en-PK" b="1" cap="small" dirty="0"/>
          </a:p>
        </p:txBody>
      </p:sp>
    </p:spTree>
    <p:extLst>
      <p:ext uri="{BB962C8B-B14F-4D97-AF65-F5344CB8AC3E}">
        <p14:creationId xmlns:p14="http://schemas.microsoft.com/office/powerpoint/2010/main" val="2470253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C42F-B944-4B16-ACDC-3013A371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1924"/>
          </a:xfrm>
        </p:spPr>
        <p:txBody>
          <a:bodyPr/>
          <a:lstStyle/>
          <a:p>
            <a:pPr algn="ctr"/>
            <a:r>
              <a:rPr lang="en-US" sz="3200" b="1" cap="small" dirty="0"/>
              <a:t>String Primitive 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B4A09-3172-4E10-83B3-0AB51443A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1331259"/>
            <a:ext cx="11164186" cy="507402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MOVSB, MOVSW, and MOVSD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CMPSB, CMPSW, and CMPSD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SCASB, SCASW, and SCASD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STOSB, STOSW, and STOSD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LODSB, LODSW, and LODSD</a:t>
            </a:r>
          </a:p>
        </p:txBody>
      </p:sp>
    </p:spTree>
    <p:extLst>
      <p:ext uri="{BB962C8B-B14F-4D97-AF65-F5344CB8AC3E}">
        <p14:creationId xmlns:p14="http://schemas.microsoft.com/office/powerpoint/2010/main" val="2629042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C42F-B944-4B16-ACDC-3013A371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1924"/>
          </a:xfrm>
        </p:spPr>
        <p:txBody>
          <a:bodyPr/>
          <a:lstStyle/>
          <a:p>
            <a:pPr algn="ctr"/>
            <a:r>
              <a:rPr lang="en-US" sz="3200" b="1" cap="small" dirty="0"/>
              <a:t>MOVSB, MOVSW, &amp; MOVSD</a:t>
            </a:r>
            <a:endParaRPr lang="en-PK" cap="small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62C81F-BB00-4890-9DAF-BC1F3E055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1331259"/>
            <a:ext cx="11164186" cy="507402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MOVSB, MOVSW, and MOVSD instructions copy data from the memory location pointed to by ESI to the memory location pointed to by EDI.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Example: </a:t>
            </a:r>
            <a:endParaRPr lang="en-US" dirty="0"/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.data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source DWORD 0FFFFFFFFh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target DWORD ?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.code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mov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esi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OFFSET source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mov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edi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OFFSET target</a:t>
            </a:r>
          </a:p>
          <a:p>
            <a:pPr marL="400050" lvl="1" indent="1120775" algn="just">
              <a:buNone/>
            </a:pP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movsd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3686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C42F-B944-4B16-ACDC-3013A371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1924"/>
          </a:xfrm>
        </p:spPr>
        <p:txBody>
          <a:bodyPr/>
          <a:lstStyle/>
          <a:p>
            <a:pPr algn="ctr"/>
            <a:r>
              <a:rPr lang="en-US" sz="3200" b="1" cap="small" dirty="0"/>
              <a:t>MOVSB, MOVSW, &amp; MOVSD</a:t>
            </a:r>
            <a:endParaRPr lang="en-PK" cap="small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62C81F-BB00-4890-9DAF-BC1F3E055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1331259"/>
            <a:ext cx="11164186" cy="507402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ESI and EDI are automatically incremented or decremented:</a:t>
            </a:r>
          </a:p>
          <a:p>
            <a:pPr lvl="1" algn="just"/>
            <a:r>
              <a:rPr lang="en-US" dirty="0"/>
              <a:t>MOVSB increments/decrements by 1</a:t>
            </a:r>
          </a:p>
          <a:p>
            <a:pPr lvl="1" algn="just"/>
            <a:r>
              <a:rPr lang="en-US" dirty="0"/>
              <a:t>MOVSW increments/decrements by 2</a:t>
            </a:r>
          </a:p>
          <a:p>
            <a:pPr lvl="1" algn="just"/>
            <a:r>
              <a:rPr lang="en-US" dirty="0"/>
              <a:t>MOVSD increments/decrements by 4</a:t>
            </a:r>
          </a:p>
        </p:txBody>
      </p:sp>
    </p:spTree>
    <p:extLst>
      <p:ext uri="{BB962C8B-B14F-4D97-AF65-F5344CB8AC3E}">
        <p14:creationId xmlns:p14="http://schemas.microsoft.com/office/powerpoint/2010/main" val="2765900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C42F-B944-4B16-ACDC-3013A371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1924"/>
          </a:xfrm>
        </p:spPr>
        <p:txBody>
          <a:bodyPr/>
          <a:lstStyle/>
          <a:p>
            <a:pPr algn="ctr"/>
            <a:r>
              <a:rPr lang="en-US" sz="3200" b="1" cap="small" dirty="0"/>
              <a:t>Direction Flag</a:t>
            </a:r>
            <a:endParaRPr lang="en-PK" cap="small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62C81F-BB00-4890-9DAF-BC1F3E055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1331259"/>
            <a:ext cx="11164186" cy="507402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Direction flag controls the incrementing or decrementing of ESI and EDI.</a:t>
            </a:r>
          </a:p>
          <a:p>
            <a:pPr lvl="1" algn="just"/>
            <a:r>
              <a:rPr lang="en-US" dirty="0"/>
              <a:t>DF = clear (0): increment ESI and EDI</a:t>
            </a:r>
          </a:p>
          <a:p>
            <a:pPr lvl="1" algn="just"/>
            <a:r>
              <a:rPr lang="en-US" dirty="0"/>
              <a:t>DF = set (1): decrement ESI and EDI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The Direction flag can be explicitly changed using the CLD and STD instructions: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CLD 	; clear Direction flag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STD 	; set Direction flag</a:t>
            </a:r>
          </a:p>
        </p:txBody>
      </p:sp>
    </p:spTree>
    <p:extLst>
      <p:ext uri="{BB962C8B-B14F-4D97-AF65-F5344CB8AC3E}">
        <p14:creationId xmlns:p14="http://schemas.microsoft.com/office/powerpoint/2010/main" val="893189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C42F-B944-4B16-ACDC-3013A371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1924"/>
          </a:xfrm>
        </p:spPr>
        <p:txBody>
          <a:bodyPr/>
          <a:lstStyle/>
          <a:p>
            <a:pPr algn="ctr"/>
            <a:r>
              <a:rPr lang="en-US" sz="3200" b="1" cap="small" dirty="0"/>
              <a:t>Using a Repeat Prefix</a:t>
            </a:r>
            <a:endParaRPr lang="en-PK" cap="small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62C81F-BB00-4890-9DAF-BC1F3E055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1331259"/>
            <a:ext cx="11164186" cy="507402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By itself, a string primitive instruction processes only a single memory value or pair of values.</a:t>
            </a:r>
          </a:p>
          <a:p>
            <a:pPr algn="just"/>
            <a:r>
              <a:rPr lang="en-US" dirty="0"/>
              <a:t>REP (a repeat prefix) can be inserted just before MOVSB, MOVSW, or MOVSD</a:t>
            </a:r>
          </a:p>
          <a:p>
            <a:pPr algn="just"/>
            <a:r>
              <a:rPr lang="en-US" dirty="0"/>
              <a:t>ECX controls the number of repetitions</a:t>
            </a:r>
          </a:p>
          <a:p>
            <a:pPr algn="just"/>
            <a:r>
              <a:rPr lang="en-US" dirty="0"/>
              <a:t>Example: Copy 20 doublewords from source to target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.data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source DWORD 20 DUP(?)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target DWORD 20 DUP(?)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.code</a:t>
            </a:r>
          </a:p>
          <a:p>
            <a:pPr marL="400050" lvl="1" indent="1120775" algn="just">
              <a:buNone/>
            </a:pP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cld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	; direction = forward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mov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ecx,LENGTHOF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source	; set REP counter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mov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esi,OFFSET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source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mov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edi,OFFSET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target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rep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movsd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919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C42F-B944-4B16-ACDC-3013A371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1924"/>
          </a:xfrm>
        </p:spPr>
        <p:txBody>
          <a:bodyPr/>
          <a:lstStyle/>
          <a:p>
            <a:pPr algn="ctr"/>
            <a:r>
              <a:rPr lang="en-US" sz="3200" b="1" cap="small" dirty="0"/>
              <a:t>Example</a:t>
            </a:r>
            <a:endParaRPr lang="en-PK" cap="small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62C81F-BB00-4890-9DAF-BC1F3E055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1331259"/>
            <a:ext cx="11164186" cy="507402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Use MOVSD to delete the first element of the following doubleword array. All subsequent array values must be moved one position forward toward the beginning of the array: array DWORD 1,1,2,3,4,5,6,7,8,9,10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Solution: </a:t>
            </a:r>
            <a:endParaRPr lang="en-US" dirty="0"/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.data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array DWORD 1,1,2,3,4,5,6,7,8,9,10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.code</a:t>
            </a:r>
          </a:p>
          <a:p>
            <a:pPr marL="400050" lvl="1" indent="1120775" algn="just">
              <a:buNone/>
            </a:pP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cld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mov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ecx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,(LENGTHOF array) - 1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mov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esi,OFFSET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array+4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mov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edi,OFFSET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array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rep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movsd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2798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C42F-B944-4B16-ACDC-3013A371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1924"/>
          </a:xfrm>
        </p:spPr>
        <p:txBody>
          <a:bodyPr/>
          <a:lstStyle/>
          <a:p>
            <a:pPr algn="ctr"/>
            <a:r>
              <a:rPr lang="en-US" sz="3200" b="1" cap="small" dirty="0"/>
              <a:t>CMPSB, CMPSW, &amp; CMPSD</a:t>
            </a:r>
            <a:endParaRPr lang="en-PK" cap="small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62C81F-BB00-4890-9DAF-BC1F3E055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1331259"/>
            <a:ext cx="11164186" cy="507402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CMPSB, CMPSW, and CMPSD instructions each compare a memory operand pointed to by ESI to a memory operand pointed to by EDI</a:t>
            </a:r>
          </a:p>
          <a:p>
            <a:pPr lvl="1" algn="just"/>
            <a:r>
              <a:rPr lang="en-US" dirty="0"/>
              <a:t>CMPSB compares bytes</a:t>
            </a:r>
          </a:p>
          <a:p>
            <a:pPr lvl="1" algn="just"/>
            <a:r>
              <a:rPr lang="en-US" dirty="0"/>
              <a:t>CMPSW compares words</a:t>
            </a:r>
          </a:p>
          <a:p>
            <a:pPr lvl="1" algn="just"/>
            <a:r>
              <a:rPr lang="en-US" dirty="0"/>
              <a:t>CMPSD compares doublewords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Repeat prefix often used</a:t>
            </a:r>
          </a:p>
          <a:p>
            <a:pPr lvl="1" algn="just"/>
            <a:r>
              <a:rPr lang="en-US" dirty="0"/>
              <a:t>REPE (REPZ)</a:t>
            </a:r>
          </a:p>
          <a:p>
            <a:pPr lvl="1" algn="just"/>
            <a:r>
              <a:rPr lang="en-US" dirty="0"/>
              <a:t>REPNE (REPNZ)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6D8DB0-9C6A-4B76-998F-9717798DF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250" y="4023360"/>
            <a:ext cx="6652913" cy="5057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B89D0B1-2F29-4B8B-84AD-3BEA15B30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0251" y="4777451"/>
            <a:ext cx="6652912" cy="634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828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C42F-B944-4B16-ACDC-3013A371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1924"/>
          </a:xfrm>
        </p:spPr>
        <p:txBody>
          <a:bodyPr/>
          <a:lstStyle/>
          <a:p>
            <a:pPr algn="ctr"/>
            <a:r>
              <a:rPr lang="en-US" sz="3200" b="1" cap="small" dirty="0"/>
              <a:t>Comparing a Pair of Doublewords</a:t>
            </a:r>
            <a:endParaRPr lang="en-PK" cap="small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62C81F-BB00-4890-9DAF-BC1F3E055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1331259"/>
            <a:ext cx="11164186" cy="507402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If source &gt; target, the code jumps to label L1; otherwise, it jumps to label L2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Solution: </a:t>
            </a:r>
            <a:endParaRPr lang="en-US" dirty="0"/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.data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source DWORD 1234h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target DWORD 5678h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.code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mov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esi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OFFSET source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mov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edi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OFFSET target</a:t>
            </a:r>
          </a:p>
          <a:p>
            <a:pPr marL="400050" lvl="1" indent="1120775" algn="just">
              <a:buNone/>
            </a:pP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cmpsd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			; compare doublewords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ja L1				; jump if source &gt; target</a:t>
            </a:r>
          </a:p>
          <a:p>
            <a:pPr marL="400050" lvl="1" indent="1120775" algn="just">
              <a:buNone/>
            </a:pP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jmp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L2				; jump if source &lt;= target</a:t>
            </a:r>
          </a:p>
        </p:txBody>
      </p:sp>
    </p:spTree>
    <p:extLst>
      <p:ext uri="{BB962C8B-B14F-4D97-AF65-F5344CB8AC3E}">
        <p14:creationId xmlns:p14="http://schemas.microsoft.com/office/powerpoint/2010/main" val="3929457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C42F-B944-4B16-ACDC-3013A371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1924"/>
          </a:xfrm>
        </p:spPr>
        <p:txBody>
          <a:bodyPr/>
          <a:lstStyle/>
          <a:p>
            <a:pPr algn="ctr"/>
            <a:r>
              <a:rPr lang="en-US" sz="3200" b="1" cap="small" dirty="0"/>
              <a:t>Comparing a Pair of Doublewords</a:t>
            </a:r>
            <a:endParaRPr lang="en-PK" cap="small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62C81F-BB00-4890-9DAF-BC1F3E055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1331259"/>
            <a:ext cx="11164186" cy="507402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Modify the program in the previous slide by declaring both source and target as WORD variables. Make any other necessary changes.</a:t>
            </a:r>
          </a:p>
          <a:p>
            <a:pPr algn="just"/>
            <a:r>
              <a:rPr lang="en-US" b="1" dirty="0"/>
              <a:t>Solution: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542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C42F-B944-4B16-ACDC-3013A371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1924"/>
          </a:xfrm>
        </p:spPr>
        <p:txBody>
          <a:bodyPr/>
          <a:lstStyle/>
          <a:p>
            <a:pPr algn="ctr"/>
            <a:r>
              <a:rPr lang="en-US" sz="3200" b="1" cap="small" dirty="0"/>
              <a:t>Comparing a Pair of Doublewords</a:t>
            </a:r>
            <a:endParaRPr lang="en-PK" cap="small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62C81F-BB00-4890-9DAF-BC1F3E055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1331259"/>
            <a:ext cx="11164186" cy="507402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Use a REPE (repeat while equal) prefix to compare corresponding elements of two arrays</a:t>
            </a:r>
          </a:p>
          <a:p>
            <a:pPr algn="just"/>
            <a:r>
              <a:rPr lang="en-US" b="1" dirty="0"/>
              <a:t>Solution: </a:t>
            </a:r>
            <a:endParaRPr lang="en-US" dirty="0"/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.data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COUNT = 20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source DWORD COUNT DUP(?)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target DWORD COUNT DUP(?)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.code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mov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ecx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COUNT				; repetition count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mov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esi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OFFSET source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mov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edi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OFFSET target</a:t>
            </a:r>
          </a:p>
          <a:p>
            <a:pPr marL="400050" lvl="1" indent="1120775" algn="just">
              <a:buNone/>
            </a:pP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cld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						; direction = forward</a:t>
            </a:r>
          </a:p>
          <a:p>
            <a:pPr marL="400050" lvl="1" indent="1120775" algn="just">
              <a:buNone/>
            </a:pP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repe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cmpsd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				; repeat while equal</a:t>
            </a:r>
          </a:p>
        </p:txBody>
      </p:sp>
    </p:spTree>
    <p:extLst>
      <p:ext uri="{BB962C8B-B14F-4D97-AF65-F5344CB8AC3E}">
        <p14:creationId xmlns:p14="http://schemas.microsoft.com/office/powerpoint/2010/main" val="1720526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C42F-B944-4B16-ACDC-3013A371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1924"/>
          </a:xfrm>
        </p:spPr>
        <p:txBody>
          <a:bodyPr/>
          <a:lstStyle/>
          <a:p>
            <a:pPr algn="ctr"/>
            <a:r>
              <a:rPr lang="en-US" sz="3200" b="1" cap="small" dirty="0"/>
              <a:t>Example: Comparing Two Strings</a:t>
            </a:r>
            <a:endParaRPr lang="en-PK" cap="small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62C81F-BB00-4890-9DAF-BC1F3E055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1331259"/>
            <a:ext cx="11164186" cy="507402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This program compares two strings (source and destination). It displays a message indicating whether the lexical value of the source string is less than the destination string.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Solution: </a:t>
            </a:r>
            <a:endParaRPr lang="en-US" dirty="0"/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.data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source BYTE "MARTIN  "</a:t>
            </a:r>
          </a:p>
          <a:p>
            <a:pPr marL="400050" lvl="1" indent="1120775" algn="just">
              <a:buNone/>
            </a:pP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dest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 BYTE "MARTINEZ"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str1 BYTE "Source is smaller",0dh,0ah,0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str2 BYTE "Source is not smaller",0dh,0ah,0</a:t>
            </a:r>
          </a:p>
        </p:txBody>
      </p:sp>
    </p:spTree>
    <p:extLst>
      <p:ext uri="{BB962C8B-B14F-4D97-AF65-F5344CB8AC3E}">
        <p14:creationId xmlns:p14="http://schemas.microsoft.com/office/powerpoint/2010/main" val="899880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C42F-B944-4B16-ACDC-3013A371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1924"/>
          </a:xfrm>
        </p:spPr>
        <p:txBody>
          <a:bodyPr/>
          <a:lstStyle/>
          <a:p>
            <a:pPr algn="ctr"/>
            <a:r>
              <a:rPr lang="en-US" sz="3200" b="1" cap="small" dirty="0"/>
              <a:t>Example: Comparing Two Strings</a:t>
            </a:r>
            <a:endParaRPr lang="en-PK" cap="small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62C81F-BB00-4890-9DAF-BC1F3E055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1331259"/>
            <a:ext cx="11164186" cy="5074023"/>
          </a:xfrm>
        </p:spPr>
        <p:txBody>
          <a:bodyPr>
            <a:normAutofit fontScale="77500" lnSpcReduction="20000"/>
          </a:bodyPr>
          <a:lstStyle/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.code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main PROC</a:t>
            </a:r>
          </a:p>
          <a:p>
            <a:pPr marL="400050" lvl="1" indent="1120775" algn="just">
              <a:buNone/>
            </a:pP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cld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					; direction = forward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mov 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esi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OFFSET source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mov 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edi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OFFSET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dest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mov 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ecx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LENGTHOF source</a:t>
            </a:r>
          </a:p>
          <a:p>
            <a:pPr marL="400050" lvl="1" indent="1120775" algn="just">
              <a:buNone/>
            </a:pP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repe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cmpsb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400050" lvl="1" indent="1120775" algn="just">
              <a:buNone/>
            </a:pP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jb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source_smaller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mov 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edx,OFFSET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str2		; "source is not smaller"</a:t>
            </a:r>
          </a:p>
          <a:p>
            <a:pPr marL="400050" lvl="1" indent="1120775" algn="just">
              <a:buNone/>
            </a:pP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jmp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done</a:t>
            </a:r>
          </a:p>
          <a:p>
            <a:pPr marL="400050" lvl="1" indent="1120775" algn="just">
              <a:buNone/>
            </a:pP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source_smaller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mov 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edx,OFFSET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str1		; "source is smaller"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done: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call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WriteString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exit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main ENDP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END main</a:t>
            </a:r>
          </a:p>
        </p:txBody>
      </p:sp>
    </p:spTree>
    <p:extLst>
      <p:ext uri="{BB962C8B-B14F-4D97-AF65-F5344CB8AC3E}">
        <p14:creationId xmlns:p14="http://schemas.microsoft.com/office/powerpoint/2010/main" val="5143438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C42F-B944-4B16-ACDC-3013A371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1924"/>
          </a:xfrm>
        </p:spPr>
        <p:txBody>
          <a:bodyPr/>
          <a:lstStyle/>
          <a:p>
            <a:pPr algn="ctr"/>
            <a:r>
              <a:rPr lang="en-US" sz="3200" b="1" cap="small" dirty="0"/>
              <a:t>Example: Comparing Two Strings </a:t>
            </a:r>
            <a:endParaRPr lang="en-PK" cap="smal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B4A09-3172-4E10-83B3-0AB51443A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1331259"/>
            <a:ext cx="11164186" cy="507402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following diagram shows the final values of ESI and EDI after comparing the strings:</a:t>
            </a:r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007F45-DE5E-40C0-8EF5-BA1308F45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366" y="2345240"/>
            <a:ext cx="9831407" cy="304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6274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C42F-B944-4B16-ACDC-3013A371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1924"/>
          </a:xfrm>
        </p:spPr>
        <p:txBody>
          <a:bodyPr/>
          <a:lstStyle/>
          <a:p>
            <a:pPr algn="ctr"/>
            <a:r>
              <a:rPr lang="en-US" sz="3200" b="1" cap="small" dirty="0"/>
              <a:t>SCASB, SCASW, &amp; SCASD</a:t>
            </a:r>
            <a:endParaRPr lang="en-PK" cap="small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62C81F-BB00-4890-9DAF-BC1F3E055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1331259"/>
            <a:ext cx="11164186" cy="507402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SCASB, SCASW, and SCASD instructions compare a value in AL/AX/EAX to a byte, word, or doubleword, respectively, addressed by EDI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Useful types of searches:</a:t>
            </a:r>
          </a:p>
          <a:p>
            <a:pPr lvl="1" algn="just"/>
            <a:r>
              <a:rPr lang="en-US" dirty="0"/>
              <a:t>Search for a specific element in a long string or array</a:t>
            </a:r>
          </a:p>
          <a:p>
            <a:pPr lvl="1" algn="just"/>
            <a:r>
              <a:rPr lang="en-US" dirty="0"/>
              <a:t>Search for the first element that does not match a given value</a:t>
            </a:r>
          </a:p>
          <a:p>
            <a:pPr algn="just"/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48129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C42F-B944-4B16-ACDC-3013A371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1924"/>
          </a:xfrm>
        </p:spPr>
        <p:txBody>
          <a:bodyPr/>
          <a:lstStyle/>
          <a:p>
            <a:pPr algn="ctr"/>
            <a:r>
              <a:rPr lang="en-US" sz="3200" b="1" cap="small" dirty="0"/>
              <a:t>SCASB, SCASW, &amp; SCASD</a:t>
            </a:r>
            <a:endParaRPr lang="en-PK" cap="small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62C81F-BB00-4890-9DAF-BC1F3E055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1331259"/>
            <a:ext cx="11164186" cy="507402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Search for the letter 'F' in a string named alpha:</a:t>
            </a:r>
          </a:p>
          <a:p>
            <a:pPr algn="just"/>
            <a:r>
              <a:rPr lang="en-US" b="1" dirty="0"/>
              <a:t>Solution: </a:t>
            </a:r>
            <a:endParaRPr lang="en-US" dirty="0"/>
          </a:p>
          <a:p>
            <a:pPr marL="400050" lvl="1" indent="1120775" algn="just">
              <a:buNone/>
            </a:pP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2F17A1-E896-4BAD-BF7E-1475D41FD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760" y="2204858"/>
            <a:ext cx="8328074" cy="4329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539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C42F-B944-4B16-ACDC-3013A371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1924"/>
          </a:xfrm>
        </p:spPr>
        <p:txBody>
          <a:bodyPr/>
          <a:lstStyle/>
          <a:p>
            <a:pPr algn="ctr"/>
            <a:r>
              <a:rPr lang="en-US" sz="3200" b="1" cap="small" dirty="0"/>
              <a:t>STOSB, STOSW, &amp; STOSD</a:t>
            </a:r>
            <a:endParaRPr lang="en-PK" cap="small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62C81F-BB00-4890-9DAF-BC1F3E055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1331259"/>
            <a:ext cx="11164186" cy="507402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STOSB, STOSW, and STOSD instructions store the contents of AL/AX/EAX, respectively, in memory at the offset pointed to by EDI</a:t>
            </a:r>
          </a:p>
          <a:p>
            <a:pPr algn="just"/>
            <a:r>
              <a:rPr lang="en-US" dirty="0"/>
              <a:t>When used with the REP prefix, these instructions are useful for filling all elements of a string or array with a single value </a:t>
            </a:r>
          </a:p>
          <a:p>
            <a:pPr algn="just"/>
            <a:r>
              <a:rPr lang="en-US" b="1" dirty="0"/>
              <a:t>Example</a:t>
            </a:r>
            <a:r>
              <a:rPr lang="en-US" dirty="0"/>
              <a:t>: fill an array with 0FFh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BA8BD0-C4DA-4291-AFFE-3D9820816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193" y="3429000"/>
            <a:ext cx="7810500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0204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C42F-B944-4B16-ACDC-3013A371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1924"/>
          </a:xfrm>
        </p:spPr>
        <p:txBody>
          <a:bodyPr/>
          <a:lstStyle/>
          <a:p>
            <a:pPr algn="ctr"/>
            <a:r>
              <a:rPr lang="en-US" sz="3200" b="1" cap="small" dirty="0"/>
              <a:t>LODSB, LODSW &amp; LODSD</a:t>
            </a:r>
            <a:endParaRPr lang="en-PK" cap="small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62C81F-BB00-4890-9DAF-BC1F3E055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1331259"/>
            <a:ext cx="11164186" cy="5074023"/>
          </a:xfrm>
        </p:spPr>
        <p:txBody>
          <a:bodyPr>
            <a:normAutofit/>
          </a:bodyPr>
          <a:lstStyle/>
          <a:p>
            <a:pPr algn="just"/>
            <a:r>
              <a:rPr lang="en-US" sz="1800" dirty="0"/>
              <a:t>LODSB, LODSW, and LODSD load a byte or word from memory at ESI into AL/AX/EAX, respectively. </a:t>
            </a:r>
          </a:p>
          <a:p>
            <a:pPr algn="just"/>
            <a:r>
              <a:rPr lang="en-US" sz="1800" dirty="0"/>
              <a:t>•The REP prefix is rarely used with LODS because each new value loaded into the accumulator overwrites its previous contents. </a:t>
            </a:r>
          </a:p>
          <a:p>
            <a:pPr algn="just"/>
            <a:r>
              <a:rPr lang="en-US" sz="1800" dirty="0"/>
              <a:t>• Instead, LODS is used to load a single value. </a:t>
            </a:r>
          </a:p>
          <a:p>
            <a:pPr algn="just"/>
            <a:r>
              <a:rPr lang="en-US" b="1" dirty="0"/>
              <a:t>Example</a:t>
            </a:r>
            <a:r>
              <a:rPr lang="en-US" dirty="0"/>
              <a:t>:</a:t>
            </a:r>
          </a:p>
          <a:p>
            <a:pPr algn="just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B223DE-D997-48E0-ABB1-A15345897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784" y="3019290"/>
            <a:ext cx="7668431" cy="369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6057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C42F-B944-4B16-ACDC-3013A371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1924"/>
          </a:xfrm>
        </p:spPr>
        <p:txBody>
          <a:bodyPr/>
          <a:lstStyle/>
          <a:p>
            <a:pPr algn="ctr"/>
            <a:r>
              <a:rPr lang="en-US" sz="3200" b="1" cap="small" dirty="0" err="1"/>
              <a:t>Exercixe</a:t>
            </a:r>
            <a:endParaRPr lang="en-PK" cap="small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62C81F-BB00-4890-9DAF-BC1F3E055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1331259"/>
            <a:ext cx="11164186" cy="5074023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Write a program that converts each unpacked binary-coded decimal byte belonging to an array into an ASCII decimal byte and copies it to a new array.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.data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array BYTE 1,2,3,4,5,6,7,8,9</a:t>
            </a:r>
          </a:p>
          <a:p>
            <a:pPr marL="400050" lvl="1" indent="1120775" algn="just">
              <a:buNone/>
            </a:pP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dest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BYTE (LENGTHOF array) DUP(?)</a:t>
            </a:r>
          </a:p>
          <a:p>
            <a:pPr algn="just"/>
            <a:r>
              <a:rPr lang="en-US" b="1" dirty="0"/>
              <a:t>Solution</a:t>
            </a:r>
            <a:r>
              <a:rPr lang="en-US" dirty="0"/>
              <a:t>: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.code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mov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esi,OFFSET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array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mov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edi,OFFSET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dest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mov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ecx,LENGTHOF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array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cld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							; direction = up 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L1:	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lodsb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					; load into AL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or al,30h						; convert to ASCII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stosb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					; store into memory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loop L1</a:t>
            </a:r>
          </a:p>
          <a:p>
            <a:pPr marL="400050" lvl="1" indent="1120775" algn="just">
              <a:buNone/>
            </a:pP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20123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327C52-CEB1-4300-822C-E36EA2A36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874" y="363480"/>
            <a:ext cx="9720775" cy="306552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6EE3766-911D-48A7-ABE7-CB255F6C797E}"/>
              </a:ext>
            </a:extLst>
          </p:cNvPr>
          <p:cNvSpPr/>
          <p:nvPr/>
        </p:nvSpPr>
        <p:spPr>
          <a:xfrm>
            <a:off x="694006" y="3738881"/>
            <a:ext cx="108039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•Although they are called string primitives, they are not limited to character arrays</a:t>
            </a:r>
            <a:r>
              <a:rPr lang="en-US" dirty="0"/>
              <a:t>.</a:t>
            </a:r>
            <a:endParaRPr lang="en-PK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B2C077-C4F9-4135-BB30-E61541B234C4}"/>
              </a:ext>
            </a:extLst>
          </p:cNvPr>
          <p:cNvSpPr/>
          <p:nvPr/>
        </p:nvSpPr>
        <p:spPr>
          <a:xfrm>
            <a:off x="694006" y="4442321"/>
            <a:ext cx="110525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•Each instruction implicitly uses ESI, EDI, or both registers to address memory.</a:t>
            </a:r>
            <a:endParaRPr lang="en-PK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E87510-3D18-4297-B006-BDF2489D93AE}"/>
              </a:ext>
            </a:extLst>
          </p:cNvPr>
          <p:cNvSpPr/>
          <p:nvPr/>
        </p:nvSpPr>
        <p:spPr>
          <a:xfrm>
            <a:off x="776067" y="5145761"/>
            <a:ext cx="1063986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•String primitives execute efficiently because they automatically repeat and increment array indexes. </a:t>
            </a:r>
            <a:endParaRPr lang="en-PK" b="1" dirty="0"/>
          </a:p>
        </p:txBody>
      </p:sp>
    </p:spTree>
    <p:extLst>
      <p:ext uri="{BB962C8B-B14F-4D97-AF65-F5344CB8AC3E}">
        <p14:creationId xmlns:p14="http://schemas.microsoft.com/office/powerpoint/2010/main" val="32521793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6B4BD-F79F-4453-9914-79484D5D0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2729" y="2198614"/>
            <a:ext cx="8946541" cy="2460771"/>
          </a:xfrm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dirty="0"/>
              <a:t> </a:t>
            </a:r>
            <a:r>
              <a:rPr lang="en-US" sz="13800" b="1" cap="small" dirty="0"/>
              <a:t>Selected String Procedures</a:t>
            </a:r>
          </a:p>
          <a:p>
            <a:pPr marL="0" indent="0" algn="ctr">
              <a:buNone/>
            </a:pPr>
            <a:endParaRPr lang="en-US" sz="13800" b="1" cap="small" dirty="0"/>
          </a:p>
          <a:p>
            <a:pPr marL="0" indent="0" algn="ctr">
              <a:buNone/>
            </a:pPr>
            <a:endParaRPr lang="en-PK" b="1" cap="small" dirty="0"/>
          </a:p>
        </p:txBody>
      </p:sp>
    </p:spTree>
    <p:extLst>
      <p:ext uri="{BB962C8B-B14F-4D97-AF65-F5344CB8AC3E}">
        <p14:creationId xmlns:p14="http://schemas.microsoft.com/office/powerpoint/2010/main" val="24659374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C42F-B944-4B16-ACDC-3013A371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1924"/>
          </a:xfrm>
        </p:spPr>
        <p:txBody>
          <a:bodyPr/>
          <a:lstStyle/>
          <a:p>
            <a:pPr algn="ctr"/>
            <a:r>
              <a:rPr lang="en-US" sz="3200" b="1" cap="small" dirty="0"/>
              <a:t>Selected String Procedures</a:t>
            </a:r>
            <a:endParaRPr lang="en-PK" cap="small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62C81F-BB00-4890-9DAF-BC1F3E055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1331259"/>
            <a:ext cx="11164186" cy="507402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following string procedures may be found in the Irvine32 and Irvine16 libraries:</a:t>
            </a:r>
          </a:p>
          <a:p>
            <a:pPr lvl="1" algn="just"/>
            <a:r>
              <a:rPr lang="en-US" dirty="0" err="1"/>
              <a:t>Str_compare</a:t>
            </a:r>
            <a:r>
              <a:rPr lang="en-US" dirty="0"/>
              <a:t> Procedure</a:t>
            </a:r>
          </a:p>
          <a:p>
            <a:pPr lvl="1" algn="just"/>
            <a:r>
              <a:rPr lang="en-US" dirty="0" err="1"/>
              <a:t>Str_length</a:t>
            </a:r>
            <a:r>
              <a:rPr lang="en-US" dirty="0"/>
              <a:t> Procedure</a:t>
            </a:r>
          </a:p>
          <a:p>
            <a:pPr lvl="1" algn="just"/>
            <a:r>
              <a:rPr lang="en-US" dirty="0" err="1"/>
              <a:t>Str_copy</a:t>
            </a:r>
            <a:r>
              <a:rPr lang="en-US" dirty="0"/>
              <a:t> Procedure</a:t>
            </a:r>
          </a:p>
          <a:p>
            <a:pPr lvl="1" algn="just"/>
            <a:r>
              <a:rPr lang="en-US" dirty="0" err="1"/>
              <a:t>Str_trim</a:t>
            </a:r>
            <a:r>
              <a:rPr lang="en-US" dirty="0"/>
              <a:t> Procedure</a:t>
            </a:r>
          </a:p>
          <a:p>
            <a:pPr lvl="1" algn="just"/>
            <a:r>
              <a:rPr lang="en-US" dirty="0" err="1"/>
              <a:t>Str_ucase</a:t>
            </a:r>
            <a:r>
              <a:rPr lang="en-US" dirty="0"/>
              <a:t> Procedure</a:t>
            </a:r>
          </a:p>
        </p:txBody>
      </p:sp>
    </p:spTree>
    <p:extLst>
      <p:ext uri="{BB962C8B-B14F-4D97-AF65-F5344CB8AC3E}">
        <p14:creationId xmlns:p14="http://schemas.microsoft.com/office/powerpoint/2010/main" val="17840151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5B498-A7E7-42E9-BDAB-F5B040460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452718"/>
            <a:ext cx="9404723" cy="872499"/>
          </a:xfrm>
        </p:spPr>
        <p:txBody>
          <a:bodyPr/>
          <a:lstStyle/>
          <a:p>
            <a:pPr algn="ctr"/>
            <a:r>
              <a:rPr lang="en-US" b="1" dirty="0"/>
              <a:t>PROTO DIRECTIVE</a:t>
            </a:r>
            <a:endParaRPr lang="en-PK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73AFBF-2B39-46CC-A328-4CE1CA4D0461}"/>
              </a:ext>
            </a:extLst>
          </p:cNvPr>
          <p:cNvSpPr/>
          <p:nvPr/>
        </p:nvSpPr>
        <p:spPr>
          <a:xfrm>
            <a:off x="503582" y="1555331"/>
            <a:ext cx="10469218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b="1" dirty="0"/>
              <a:t>•Creates a procedure prototype </a:t>
            </a:r>
          </a:p>
          <a:p>
            <a:pPr algn="ctr"/>
            <a:r>
              <a:rPr lang="it-IT" sz="2000" b="1" dirty="0">
                <a:solidFill>
                  <a:srgbClr val="FFC000"/>
                </a:solidFill>
              </a:rPr>
              <a:t>label PROTO paramList</a:t>
            </a:r>
            <a:endParaRPr lang="en-PK" sz="2000" b="1" dirty="0">
              <a:solidFill>
                <a:srgbClr val="FFC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2A1E1C-8F0C-431E-943A-6EB68D6FECC3}"/>
              </a:ext>
            </a:extLst>
          </p:cNvPr>
          <p:cNvSpPr/>
          <p:nvPr/>
        </p:nvSpPr>
        <p:spPr>
          <a:xfrm>
            <a:off x="503582" y="2695018"/>
            <a:ext cx="99523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•Every procedure called by the INVOKE directive must have a prototype.</a:t>
            </a:r>
            <a:endParaRPr lang="en-PK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B7E461-9B78-4C39-AE48-3E304542772A}"/>
              </a:ext>
            </a:extLst>
          </p:cNvPr>
          <p:cNvSpPr/>
          <p:nvPr/>
        </p:nvSpPr>
        <p:spPr>
          <a:xfrm>
            <a:off x="503582" y="3429000"/>
            <a:ext cx="100493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•A complete procedure definition can also serve as its own prototype.</a:t>
            </a:r>
            <a:endParaRPr lang="en-PK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3F0AB7-AD03-4A44-BEF2-381CAEA6B1A4}"/>
              </a:ext>
            </a:extLst>
          </p:cNvPr>
          <p:cNvSpPr/>
          <p:nvPr/>
        </p:nvSpPr>
        <p:spPr>
          <a:xfrm>
            <a:off x="503582" y="4246457"/>
            <a:ext cx="109197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/>
              <a:t>•Standard configuration: PROTO appears at top of the program listing, INVOKE appears in the code segment, and the procedure implementation occurs later in the program</a:t>
            </a:r>
            <a:r>
              <a:rPr lang="en-US" dirty="0"/>
              <a:t>. 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0398050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D6085-06A0-48A1-8706-C63377847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00221"/>
          </a:xfrm>
        </p:spPr>
        <p:txBody>
          <a:bodyPr/>
          <a:lstStyle/>
          <a:p>
            <a:pPr algn="ctr"/>
            <a:r>
              <a:rPr lang="en-US" b="1" dirty="0"/>
              <a:t>EXAMPLE</a:t>
            </a:r>
            <a:endParaRPr lang="en-PK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9198A1-B42B-49F0-85BB-C6136DB1F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34" y="1293536"/>
            <a:ext cx="6337232" cy="286422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2D6BB26-A6DA-4F86-BA17-3C8EB45A4374}"/>
              </a:ext>
            </a:extLst>
          </p:cNvPr>
          <p:cNvSpPr/>
          <p:nvPr/>
        </p:nvSpPr>
        <p:spPr>
          <a:xfrm>
            <a:off x="6665844" y="1293536"/>
            <a:ext cx="47575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• Prototype for the </a:t>
            </a:r>
            <a:r>
              <a:rPr lang="en-US" b="1" dirty="0" err="1"/>
              <a:t>ArraySum</a:t>
            </a:r>
            <a:r>
              <a:rPr lang="en-US" b="1" dirty="0"/>
              <a:t> procedure, showing its parameter list:</a:t>
            </a:r>
            <a:endParaRPr lang="en-PK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D9296C-BFC6-4F52-847A-A13012B7D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746" y="4159342"/>
            <a:ext cx="6343650" cy="1104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531ADF-2011-4AB9-AFF0-3F1AACCBD7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2746" y="5314048"/>
            <a:ext cx="6372225" cy="111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3995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C42F-B944-4B16-ACDC-3013A371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1924"/>
          </a:xfrm>
        </p:spPr>
        <p:txBody>
          <a:bodyPr/>
          <a:lstStyle/>
          <a:p>
            <a:pPr algn="ctr"/>
            <a:r>
              <a:rPr lang="en-US" sz="3200" b="1" cap="small" dirty="0" err="1"/>
              <a:t>Str_compare</a:t>
            </a:r>
            <a:r>
              <a:rPr lang="en-US" sz="3200" b="1" cap="small" dirty="0"/>
              <a:t> Procedure</a:t>
            </a:r>
            <a:endParaRPr lang="en-PK" cap="small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62C81F-BB00-4890-9DAF-BC1F3E055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1331259"/>
            <a:ext cx="11164186" cy="507402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Compares string1 to string2, setting the Carry and Zero flags accordingly</a:t>
            </a:r>
          </a:p>
          <a:p>
            <a:pPr algn="just"/>
            <a:r>
              <a:rPr lang="en-US" b="1" dirty="0"/>
              <a:t>PROTOTYPE (PROTO)</a:t>
            </a:r>
            <a:r>
              <a:rPr lang="en-US" dirty="0"/>
              <a:t>:</a:t>
            </a:r>
          </a:p>
          <a:p>
            <a:pPr marL="400050" lvl="1" indent="1120775" algn="just">
              <a:buNone/>
            </a:pP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Str_compare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PROTO,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string1:PTR BYTE,			; pointer to string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string2:PTR BYTE			; pointer to string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4CC35C09-266B-4A38-A45C-94604DA41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2599" y="4416391"/>
            <a:ext cx="7396942" cy="1988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09916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C42F-B944-4B16-ACDC-3013A371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1924"/>
          </a:xfrm>
        </p:spPr>
        <p:txBody>
          <a:bodyPr/>
          <a:lstStyle/>
          <a:p>
            <a:pPr algn="ctr"/>
            <a:r>
              <a:rPr lang="en-US" sz="3200" b="1" cap="small" dirty="0" err="1"/>
              <a:t>Str_compare</a:t>
            </a:r>
            <a:r>
              <a:rPr lang="en-US" sz="3200" b="1" cap="small" dirty="0"/>
              <a:t> Procedure Source Code</a:t>
            </a:r>
            <a:endParaRPr lang="en-PK" cap="small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62C81F-BB00-4890-9DAF-BC1F3E055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1254641"/>
            <a:ext cx="11164186" cy="5362289"/>
          </a:xfrm>
        </p:spPr>
        <p:txBody>
          <a:bodyPr>
            <a:normAutofit fontScale="85000" lnSpcReduction="20000"/>
          </a:bodyPr>
          <a:lstStyle/>
          <a:p>
            <a:pPr marL="400050" lvl="1" indent="1120775" algn="just">
              <a:buNone/>
            </a:pP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Str_compare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PROC USES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eax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edx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esi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edi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string1:PTR BYTE, string2:PTR BYTE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  mov esi,string1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  mov edi,string2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L1: mov  al,[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esi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]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  mov  dl,[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edi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]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 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cmp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al,0    		; end of string1?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 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jne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L2      			; no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 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cmp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dl,0    		; yes: end of string2?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 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jne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L2      			; no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 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jmp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L3      			; yes, exit with ZF = 1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L2: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inc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esi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    		; point to next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 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inc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edi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 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cmp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al,dl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 		; chars equal?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  je   L1      			; yes: continue loop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L3: ret</a:t>
            </a:r>
          </a:p>
          <a:p>
            <a:pPr marL="400050" lvl="1" indent="1120775" algn="just">
              <a:buNone/>
            </a:pP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Str_compare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ENDP</a:t>
            </a:r>
          </a:p>
        </p:txBody>
      </p:sp>
    </p:spTree>
    <p:extLst>
      <p:ext uri="{BB962C8B-B14F-4D97-AF65-F5344CB8AC3E}">
        <p14:creationId xmlns:p14="http://schemas.microsoft.com/office/powerpoint/2010/main" val="5041123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C42F-B944-4B16-ACDC-3013A371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1924"/>
          </a:xfrm>
        </p:spPr>
        <p:txBody>
          <a:bodyPr/>
          <a:lstStyle/>
          <a:p>
            <a:pPr algn="ctr"/>
            <a:r>
              <a:rPr lang="en-US" sz="3200" b="1" cap="small" dirty="0" err="1"/>
              <a:t>Str_length</a:t>
            </a:r>
            <a:r>
              <a:rPr lang="en-US" sz="3200" b="1" cap="small" dirty="0"/>
              <a:t> Procedure</a:t>
            </a:r>
            <a:endParaRPr lang="en-PK" cap="small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62C81F-BB00-4890-9DAF-BC1F3E055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1331259"/>
            <a:ext cx="11164186" cy="507402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Calculates the length of a null-terminated string and returns the length in the EAX register</a:t>
            </a:r>
          </a:p>
          <a:p>
            <a:pPr algn="just"/>
            <a:r>
              <a:rPr lang="en-US" b="1" dirty="0"/>
              <a:t>PROTOTYPE (PROTO)</a:t>
            </a:r>
            <a:r>
              <a:rPr lang="en-US" dirty="0"/>
              <a:t>:</a:t>
            </a:r>
          </a:p>
          <a:p>
            <a:pPr marL="400050" lvl="1" indent="1120775" algn="just">
              <a:buNone/>
            </a:pP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Str_length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PROTO,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pString:PTR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BYTE									; pointer to string</a:t>
            </a:r>
          </a:p>
          <a:p>
            <a:pPr algn="just"/>
            <a:r>
              <a:rPr lang="en-US" b="1" dirty="0"/>
              <a:t>Example</a:t>
            </a:r>
            <a:r>
              <a:rPr lang="en-US" dirty="0"/>
              <a:t>: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.data</a:t>
            </a:r>
          </a:p>
          <a:p>
            <a:pPr marL="400050" lvl="1" indent="1120775" algn="just">
              <a:buNone/>
            </a:pP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myString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BYTE "abcdefg",0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.code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INVOKE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Str_length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 ADDR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myString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			; EAX = 7</a:t>
            </a:r>
          </a:p>
        </p:txBody>
      </p:sp>
    </p:spTree>
    <p:extLst>
      <p:ext uri="{BB962C8B-B14F-4D97-AF65-F5344CB8AC3E}">
        <p14:creationId xmlns:p14="http://schemas.microsoft.com/office/powerpoint/2010/main" val="36388346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C42F-B944-4B16-ACDC-3013A371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1924"/>
          </a:xfrm>
        </p:spPr>
        <p:txBody>
          <a:bodyPr/>
          <a:lstStyle/>
          <a:p>
            <a:pPr algn="ctr"/>
            <a:r>
              <a:rPr lang="en-US" sz="3200" b="1" cap="small" dirty="0" err="1"/>
              <a:t>Str_length</a:t>
            </a:r>
            <a:r>
              <a:rPr lang="en-US" sz="3200" b="1" cap="small" dirty="0"/>
              <a:t> Procedure Source Code</a:t>
            </a:r>
            <a:endParaRPr lang="en-PK" cap="small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62C81F-BB00-4890-9DAF-BC1F3E055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1254641"/>
            <a:ext cx="11164186" cy="5362289"/>
          </a:xfrm>
        </p:spPr>
        <p:txBody>
          <a:bodyPr>
            <a:normAutofit/>
          </a:bodyPr>
          <a:lstStyle/>
          <a:p>
            <a:pPr marL="400050" lvl="1" indent="1120775" algn="just">
              <a:buNone/>
            </a:pP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Str_length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PROC USES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edi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pString:PTR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BYTE				; pointer to string</a:t>
            </a:r>
          </a:p>
          <a:p>
            <a:pPr marL="400050" lvl="1" indent="1120775" algn="just">
              <a:buNone/>
            </a:pP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mov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edi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pString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mov eax,0     				; character count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L1: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cmp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byte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ptr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[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edi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],0			; end of string?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je  L2						; yes: quit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inc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edi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					; no: point to next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inc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eax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					; add 1 to count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jmp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L1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L2: ret</a:t>
            </a:r>
          </a:p>
          <a:p>
            <a:pPr marL="400050" lvl="1" indent="1120775" algn="just">
              <a:buNone/>
            </a:pP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Str_length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ENDP</a:t>
            </a:r>
          </a:p>
        </p:txBody>
      </p:sp>
    </p:spTree>
    <p:extLst>
      <p:ext uri="{BB962C8B-B14F-4D97-AF65-F5344CB8AC3E}">
        <p14:creationId xmlns:p14="http://schemas.microsoft.com/office/powerpoint/2010/main" val="349374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C42F-B944-4B16-ACDC-3013A371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1924"/>
          </a:xfrm>
        </p:spPr>
        <p:txBody>
          <a:bodyPr/>
          <a:lstStyle/>
          <a:p>
            <a:pPr algn="ctr"/>
            <a:r>
              <a:rPr lang="en-US" sz="3200" b="1" cap="small" dirty="0" err="1"/>
              <a:t>Str_copy</a:t>
            </a:r>
            <a:r>
              <a:rPr lang="en-US" sz="3200" b="1" cap="small" dirty="0"/>
              <a:t> Procedure</a:t>
            </a:r>
            <a:endParaRPr lang="en-PK" cap="small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62C81F-BB00-4890-9DAF-BC1F3E055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1331259"/>
            <a:ext cx="11164186" cy="507402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Copies a null-terminated string from a source location to a target location</a:t>
            </a:r>
          </a:p>
          <a:p>
            <a:pPr algn="just"/>
            <a:r>
              <a:rPr lang="en-US" b="1" dirty="0"/>
              <a:t>PROTOTYPE (PROTO)</a:t>
            </a:r>
            <a:r>
              <a:rPr lang="en-US" dirty="0"/>
              <a:t>:</a:t>
            </a:r>
          </a:p>
          <a:p>
            <a:pPr marL="400050" lvl="1" indent="1120775" algn="just">
              <a:buNone/>
            </a:pP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Str_copy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PROTO,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source:PTR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BYTE,	; pointer to string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target:PTR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BYTE	; pointer to string</a:t>
            </a:r>
          </a:p>
          <a:p>
            <a:pPr algn="just"/>
            <a:r>
              <a:rPr lang="en-US" b="1" dirty="0"/>
              <a:t>Example</a:t>
            </a:r>
            <a:r>
              <a:rPr lang="en-US" dirty="0"/>
              <a:t>: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.data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source BYTE "hello",0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target BYTE SIZEOF source DUP (?)</a:t>
            </a:r>
          </a:p>
          <a:p>
            <a:pPr marL="400050" lvl="1" indent="1120775" algn="just">
              <a:buNone/>
            </a:pP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.code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     INVOKE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Str_copy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 ADDR source,  ADDR target</a:t>
            </a:r>
          </a:p>
        </p:txBody>
      </p:sp>
    </p:spTree>
    <p:extLst>
      <p:ext uri="{BB962C8B-B14F-4D97-AF65-F5344CB8AC3E}">
        <p14:creationId xmlns:p14="http://schemas.microsoft.com/office/powerpoint/2010/main" val="35836919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C42F-B944-4B16-ACDC-3013A371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1924"/>
          </a:xfrm>
        </p:spPr>
        <p:txBody>
          <a:bodyPr/>
          <a:lstStyle/>
          <a:p>
            <a:pPr algn="ctr"/>
            <a:r>
              <a:rPr lang="en-US" sz="3200" b="1" cap="small" dirty="0" err="1"/>
              <a:t>Str_copy</a:t>
            </a:r>
            <a:r>
              <a:rPr lang="en-US" sz="3200" b="1" cap="small" dirty="0"/>
              <a:t> Procedure Source Code</a:t>
            </a:r>
            <a:endParaRPr lang="en-PK" cap="small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62C81F-BB00-4890-9DAF-BC1F3E055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1254641"/>
            <a:ext cx="11164186" cy="5362289"/>
          </a:xfrm>
        </p:spPr>
        <p:txBody>
          <a:bodyPr>
            <a:normAutofit/>
          </a:bodyPr>
          <a:lstStyle/>
          <a:p>
            <a:pPr marL="400050" lvl="1" indent="1120775" algn="just">
              <a:buNone/>
            </a:pP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Str_copy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PROC USES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eax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ecx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esi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edi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	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source:PTR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BYTE, 			; source string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	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target:PTR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BYTE		</a:t>
            </a:r>
            <a:r>
              <a:rPr lang="en-US">
                <a:solidFill>
                  <a:schemeClr val="accent2">
                    <a:lumMod val="60000"/>
                    <a:lumOff val="40000"/>
                  </a:schemeClr>
                </a:solidFill>
              </a:rPr>
              <a:t>		; 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target string</a:t>
            </a:r>
          </a:p>
          <a:p>
            <a:pPr marL="400050" lvl="1" indent="1120775" algn="just">
              <a:buNone/>
            </a:pP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INVOKE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Str_length,source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	; EAX = length source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mov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ecx,eax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			; REP count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inc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ecx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       				; add 1 for null byte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mov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esi,source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mov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edi,target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cld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             					; direction = up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rep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movsb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    				; copy the string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ret</a:t>
            </a:r>
          </a:p>
          <a:p>
            <a:pPr marL="400050" lvl="1" indent="1120775" algn="just">
              <a:buNone/>
            </a:pP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Str_copy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ENDP</a:t>
            </a:r>
          </a:p>
        </p:txBody>
      </p:sp>
    </p:spTree>
    <p:extLst>
      <p:ext uri="{BB962C8B-B14F-4D97-AF65-F5344CB8AC3E}">
        <p14:creationId xmlns:p14="http://schemas.microsoft.com/office/powerpoint/2010/main" val="42776158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C42F-B944-4B16-ACDC-3013A371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1924"/>
          </a:xfrm>
        </p:spPr>
        <p:txBody>
          <a:bodyPr/>
          <a:lstStyle/>
          <a:p>
            <a:pPr algn="ctr"/>
            <a:r>
              <a:rPr lang="en-US" sz="3200" b="1" cap="small" dirty="0" err="1"/>
              <a:t>Str_trim</a:t>
            </a:r>
            <a:r>
              <a:rPr lang="en-US" sz="3200" b="1" cap="small" dirty="0"/>
              <a:t> Procedure</a:t>
            </a:r>
            <a:endParaRPr lang="en-PK" cap="small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62C81F-BB00-4890-9DAF-BC1F3E055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1331259"/>
            <a:ext cx="11164186" cy="507402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The </a:t>
            </a:r>
            <a:r>
              <a:rPr lang="en-US" dirty="0" err="1"/>
              <a:t>Str_trim</a:t>
            </a:r>
            <a:r>
              <a:rPr lang="en-US" dirty="0"/>
              <a:t> procedure removes all occurrences of a selected trailing character from a null-terminated string</a:t>
            </a:r>
          </a:p>
          <a:p>
            <a:pPr algn="just"/>
            <a:r>
              <a:rPr lang="en-US" b="1" dirty="0"/>
              <a:t>PROTOTYPE (PROTO)</a:t>
            </a:r>
            <a:r>
              <a:rPr lang="en-US" dirty="0"/>
              <a:t>:</a:t>
            </a:r>
          </a:p>
          <a:p>
            <a:pPr marL="400050" lvl="1" indent="1120775" algn="just">
              <a:buNone/>
            </a:pP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Str_trim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PROTO,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pString:PTR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BYTE,	; points to string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char:BYTE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		; char to remove</a:t>
            </a:r>
          </a:p>
          <a:p>
            <a:pPr algn="just"/>
            <a:r>
              <a:rPr lang="en-US" b="1" dirty="0"/>
              <a:t>Example</a:t>
            </a:r>
            <a:r>
              <a:rPr lang="en-US" dirty="0"/>
              <a:t>: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.data</a:t>
            </a:r>
          </a:p>
          <a:p>
            <a:pPr marL="400050" lvl="1" indent="1120775" algn="just">
              <a:buNone/>
            </a:pP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myString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BYTE "Hello###",0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.code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 INVOKE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Str_trim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ADDR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myString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'#'</a:t>
            </a:r>
          </a:p>
          <a:p>
            <a:pPr marL="400050" lvl="1" indent="1120775" algn="just">
              <a:buNone/>
            </a:pP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400050" lvl="1" indent="1120775" algn="just">
              <a:buNone/>
            </a:pP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myString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= "Hello"</a:t>
            </a:r>
          </a:p>
        </p:txBody>
      </p:sp>
    </p:spTree>
    <p:extLst>
      <p:ext uri="{BB962C8B-B14F-4D97-AF65-F5344CB8AC3E}">
        <p14:creationId xmlns:p14="http://schemas.microsoft.com/office/powerpoint/2010/main" val="7936779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C42F-B944-4B16-ACDC-3013A371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1924"/>
          </a:xfrm>
        </p:spPr>
        <p:txBody>
          <a:bodyPr/>
          <a:lstStyle/>
          <a:p>
            <a:pPr algn="ctr"/>
            <a:r>
              <a:rPr lang="en-US" sz="3200" b="1" cap="small" dirty="0" err="1"/>
              <a:t>Str_trim</a:t>
            </a:r>
            <a:r>
              <a:rPr lang="en-US" sz="3200" b="1" cap="small" dirty="0"/>
              <a:t> Procedure</a:t>
            </a:r>
            <a:endParaRPr lang="en-PK" cap="small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62C81F-BB00-4890-9DAF-BC1F3E055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1331259"/>
            <a:ext cx="11164186" cy="5074023"/>
          </a:xfrm>
        </p:spPr>
        <p:txBody>
          <a:bodyPr>
            <a:normAutofit/>
          </a:bodyPr>
          <a:lstStyle/>
          <a:p>
            <a:pPr algn="just"/>
            <a:r>
              <a:rPr lang="en-US" dirty="0" err="1"/>
              <a:t>Str_trim</a:t>
            </a:r>
            <a:r>
              <a:rPr lang="en-US" dirty="0"/>
              <a:t> checks a number of possible cases (shown here with # as the trailing character:</a:t>
            </a:r>
          </a:p>
          <a:p>
            <a:pPr algn="just"/>
            <a:r>
              <a:rPr lang="en-US" dirty="0"/>
              <a:t>The string is empty</a:t>
            </a:r>
          </a:p>
          <a:p>
            <a:pPr algn="just"/>
            <a:r>
              <a:rPr lang="en-US" dirty="0"/>
              <a:t>The string contains other characters followed by one or more trailing characters, as in "Hello##"</a:t>
            </a:r>
          </a:p>
          <a:p>
            <a:pPr algn="just"/>
            <a:r>
              <a:rPr lang="en-US" dirty="0"/>
              <a:t>The string contains only one character, the trailing character, as in "#"</a:t>
            </a:r>
          </a:p>
          <a:p>
            <a:pPr algn="just"/>
            <a:r>
              <a:rPr lang="en-US" dirty="0"/>
              <a:t>The string contains no trailing character, as in "Hello" or "H"</a:t>
            </a:r>
          </a:p>
          <a:p>
            <a:pPr algn="just"/>
            <a:r>
              <a:rPr lang="en-US" dirty="0"/>
              <a:t>The string contains one or more trailing characters followed by one or more </a:t>
            </a:r>
            <a:r>
              <a:rPr lang="en-US" dirty="0" err="1"/>
              <a:t>nontrailing</a:t>
            </a:r>
            <a:r>
              <a:rPr lang="en-US" dirty="0"/>
              <a:t> characters, as in "#H" or "###Hello"</a:t>
            </a:r>
          </a:p>
        </p:txBody>
      </p:sp>
    </p:spTree>
    <p:extLst>
      <p:ext uri="{BB962C8B-B14F-4D97-AF65-F5344CB8AC3E}">
        <p14:creationId xmlns:p14="http://schemas.microsoft.com/office/powerpoint/2010/main" val="19545037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C42F-B944-4B16-ACDC-3013A371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1924"/>
          </a:xfrm>
        </p:spPr>
        <p:txBody>
          <a:bodyPr/>
          <a:lstStyle/>
          <a:p>
            <a:pPr algn="ctr"/>
            <a:r>
              <a:rPr lang="en-US" sz="3200" b="1" cap="small" dirty="0" err="1"/>
              <a:t>Str_trim</a:t>
            </a:r>
            <a:r>
              <a:rPr lang="en-US" sz="3200" b="1" cap="small" dirty="0"/>
              <a:t> Procedure</a:t>
            </a:r>
            <a:endParaRPr lang="en-PK" cap="small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82FE37B4-7E9D-4795-88A2-56C136255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541" y="1254642"/>
            <a:ext cx="9240982" cy="3364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7EAD603E-2217-49ED-ABEB-1A9E75DFB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9323" y="4890807"/>
            <a:ext cx="2362200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6">
            <a:extLst>
              <a:ext uri="{FF2B5EF4-FFF2-40B4-BE49-F238E27FC236}">
                <a16:creationId xmlns:a16="http://schemas.microsoft.com/office/drawing/2014/main" id="{B6832D01-3FD1-4128-AEF0-AD73C30C11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0541" y="5282919"/>
            <a:ext cx="6327731" cy="892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137160" bIns="13716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 dirty="0"/>
              <a:t>Using the first definition in the table, position of EDI when SCASB stops</a:t>
            </a:r>
            <a:r>
              <a:rPr lang="en-US" altLang="en-US" sz="15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3220658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C42F-B944-4B16-ACDC-3013A371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1924"/>
          </a:xfrm>
        </p:spPr>
        <p:txBody>
          <a:bodyPr/>
          <a:lstStyle/>
          <a:p>
            <a:pPr algn="ctr"/>
            <a:r>
              <a:rPr lang="en-US" sz="3200" b="1" cap="small" dirty="0" err="1"/>
              <a:t>Str_trim</a:t>
            </a:r>
            <a:r>
              <a:rPr lang="en-US" sz="3200" b="1" cap="small" dirty="0"/>
              <a:t> Procedure Source Code</a:t>
            </a:r>
            <a:endParaRPr lang="en-PK" cap="small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62C81F-BB00-4890-9DAF-BC1F3E055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1254641"/>
            <a:ext cx="11164186" cy="5362289"/>
          </a:xfrm>
        </p:spPr>
        <p:txBody>
          <a:bodyPr>
            <a:normAutofit fontScale="77500" lnSpcReduction="20000"/>
          </a:bodyPr>
          <a:lstStyle/>
          <a:p>
            <a:pPr marL="400050" lvl="1" indent="1120775" algn="just">
              <a:buNone/>
            </a:pP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Str_trim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PROC USES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eax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ecx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edi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pString:PTR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BYTE,	; points to string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char:BYTE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; char to remove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mov 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edi,pString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INVOKE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Str_length,edi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	; returns length in EAX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cmp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eax,0	; zero-length string?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je   L2	; yes: exit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mov 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ecx,eax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; no: counter = string length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dec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eax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add 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edi,eax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; EDI points to last char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mov 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al,char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; char to trim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std	; direction = reverse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repe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scasb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; skip past trim character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jne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L1	; removed first character?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dec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edi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; adjust EDI: ZF=1 &amp;&amp; ECX=0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L1:	mov  BYTE PTR [edi+2],0	; insert null byte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L2:	ret</a:t>
            </a:r>
          </a:p>
          <a:p>
            <a:pPr marL="400050" lvl="1" indent="1120775" algn="just">
              <a:buNone/>
            </a:pP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Str_trim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ENDP</a:t>
            </a:r>
          </a:p>
        </p:txBody>
      </p:sp>
    </p:spTree>
    <p:extLst>
      <p:ext uri="{BB962C8B-B14F-4D97-AF65-F5344CB8AC3E}">
        <p14:creationId xmlns:p14="http://schemas.microsoft.com/office/powerpoint/2010/main" val="33364186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C42F-B944-4B16-ACDC-3013A371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1924"/>
          </a:xfrm>
        </p:spPr>
        <p:txBody>
          <a:bodyPr/>
          <a:lstStyle/>
          <a:p>
            <a:pPr algn="ctr"/>
            <a:r>
              <a:rPr lang="en-US" sz="3200" b="1" cap="small" dirty="0" err="1"/>
              <a:t>Str_ucase</a:t>
            </a:r>
            <a:r>
              <a:rPr lang="en-US" sz="3200" b="1" cap="small" dirty="0"/>
              <a:t> Procedure</a:t>
            </a:r>
            <a:endParaRPr lang="en-PK" cap="small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62C81F-BB00-4890-9DAF-BC1F3E055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1331259"/>
            <a:ext cx="11164186" cy="507402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</a:t>
            </a:r>
            <a:r>
              <a:rPr lang="en-US" dirty="0" err="1"/>
              <a:t>Str_ucase</a:t>
            </a:r>
            <a:r>
              <a:rPr lang="en-US" dirty="0"/>
              <a:t> procedure converts a string to all uppercase characters. It returns no value. </a:t>
            </a:r>
          </a:p>
          <a:p>
            <a:pPr algn="just"/>
            <a:r>
              <a:rPr lang="en-US" b="1" dirty="0"/>
              <a:t>PROTOTYPE (PROTO)</a:t>
            </a:r>
            <a:r>
              <a:rPr lang="en-US" dirty="0"/>
              <a:t>:</a:t>
            </a:r>
          </a:p>
          <a:p>
            <a:pPr marL="400050" lvl="1" indent="1120775" algn="just">
              <a:buNone/>
            </a:pP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Str_ucase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PROTO,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pString:PTR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BYTE		; pointer to string</a:t>
            </a:r>
          </a:p>
          <a:p>
            <a:pPr algn="just"/>
            <a:r>
              <a:rPr lang="en-US" b="1" dirty="0"/>
              <a:t>Example</a:t>
            </a:r>
            <a:r>
              <a:rPr lang="en-US" dirty="0"/>
              <a:t>: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.data</a:t>
            </a:r>
          </a:p>
          <a:p>
            <a:pPr marL="400050" lvl="1" indent="1120775" algn="just">
              <a:buNone/>
            </a:pP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myString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BYTE "Hello",0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.code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INVOKE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Str_ucase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ADDR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myString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4398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C42F-B944-4B16-ACDC-3013A3712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1924"/>
          </a:xfrm>
        </p:spPr>
        <p:txBody>
          <a:bodyPr/>
          <a:lstStyle/>
          <a:p>
            <a:pPr algn="ctr"/>
            <a:r>
              <a:rPr lang="en-US" sz="3200" b="1" cap="small" dirty="0" err="1"/>
              <a:t>Str_ucase</a:t>
            </a:r>
            <a:r>
              <a:rPr lang="en-US" sz="3200" b="1" cap="small" dirty="0"/>
              <a:t> Procedure Source Code</a:t>
            </a:r>
            <a:endParaRPr lang="en-PK" cap="small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62C81F-BB00-4890-9DAF-BC1F3E055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977" y="1254641"/>
            <a:ext cx="11164186" cy="5362289"/>
          </a:xfrm>
        </p:spPr>
        <p:txBody>
          <a:bodyPr>
            <a:normAutofit fontScale="77500" lnSpcReduction="20000"/>
          </a:bodyPr>
          <a:lstStyle/>
          <a:p>
            <a:pPr marL="400050" lvl="1" indent="1120775" algn="just">
              <a:buNone/>
            </a:pP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Str_ucase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PROC USES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eax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esi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pString:PTR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BYTE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mov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esi,pString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400050" lvl="1" indent="1120775" algn="just">
              <a:buNone/>
            </a:pP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L1:	mov al,[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esi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]				; get char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cmp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al,0					; end of string?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je  L3						; yes: quit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cmp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al,'a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’					; below "a"?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jb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L2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cmp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al,'z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’					; above "z"?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ja  L2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and BYTE PTR [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esi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],11011111b	; convert the char</a:t>
            </a:r>
          </a:p>
          <a:p>
            <a:pPr marL="400050" lvl="1" indent="1120775" algn="just">
              <a:buNone/>
            </a:pP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L2:	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inc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esi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				; next char</a:t>
            </a: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</a:t>
            </a: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jmp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L1</a:t>
            </a:r>
          </a:p>
          <a:p>
            <a:pPr marL="400050" lvl="1" indent="1120775" algn="just">
              <a:buNone/>
            </a:pP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400050" lvl="1" indent="1120775" algn="just">
              <a:buNone/>
            </a:pP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L3: ret</a:t>
            </a:r>
          </a:p>
          <a:p>
            <a:pPr marL="400050" lvl="1" indent="1120775" algn="just">
              <a:buNone/>
            </a:pPr>
            <a:r>
              <a:rPr lang="en-US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Str_ucase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ENDP</a:t>
            </a:r>
          </a:p>
        </p:txBody>
      </p:sp>
    </p:spTree>
    <p:extLst>
      <p:ext uri="{BB962C8B-B14F-4D97-AF65-F5344CB8AC3E}">
        <p14:creationId xmlns:p14="http://schemas.microsoft.com/office/powerpoint/2010/main" val="29574210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How to Make Any Question Essential with Three Easy Steps – Wabisabi Learning">
            <a:extLst>
              <a:ext uri="{FF2B5EF4-FFF2-40B4-BE49-F238E27FC236}">
                <a16:creationId xmlns:a16="http://schemas.microsoft.com/office/drawing/2014/main" id="{161E9A55-2B15-4846-A60B-5B4EB55020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677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604"/>
    </mc:Choice>
    <mc:Fallback xmlns="">
      <p:transition spd="slow" advTm="10604"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11428</TotalTime>
  <Words>2483</Words>
  <Application>Microsoft Office PowerPoint</Application>
  <PresentationFormat>Widescreen</PresentationFormat>
  <Paragraphs>344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Calibri</vt:lpstr>
      <vt:lpstr>Century Gothic</vt:lpstr>
      <vt:lpstr>Wingdings 3</vt:lpstr>
      <vt:lpstr>Ion</vt:lpstr>
      <vt:lpstr>EE-2003  Computer Organization &amp; Assembly Language</vt:lpstr>
      <vt:lpstr>PowerPoint Presentation</vt:lpstr>
      <vt:lpstr>Strings &amp; Arrays</vt:lpstr>
      <vt:lpstr>PowerPoint Presentation</vt:lpstr>
      <vt:lpstr>String Primitive Instructions</vt:lpstr>
      <vt:lpstr>MOVSB, MOVSW, &amp; MOVSD</vt:lpstr>
      <vt:lpstr>MOVSB, MOVSW, &amp; MOVSD</vt:lpstr>
      <vt:lpstr>Direction Flag</vt:lpstr>
      <vt:lpstr>Using a Repeat Prefix</vt:lpstr>
      <vt:lpstr>Example</vt:lpstr>
      <vt:lpstr>CMPSB, CMPSW, &amp; CMPSD</vt:lpstr>
      <vt:lpstr>Comparing a Pair of Doublewords</vt:lpstr>
      <vt:lpstr>Comparing a Pair of Doublewords</vt:lpstr>
      <vt:lpstr>Comparing a Pair of Doublewords</vt:lpstr>
      <vt:lpstr>Example: Comparing Two Strings</vt:lpstr>
      <vt:lpstr>Example: Comparing Two Strings</vt:lpstr>
      <vt:lpstr>Example: Comparing Two Strings </vt:lpstr>
      <vt:lpstr>SCASB, SCASW, &amp; SCASD</vt:lpstr>
      <vt:lpstr>SCASB, SCASW, &amp; SCASD</vt:lpstr>
      <vt:lpstr>STOSB, STOSW, &amp; STOSD</vt:lpstr>
      <vt:lpstr>LODSB, LODSW &amp; LODSD</vt:lpstr>
      <vt:lpstr>Exercixe</vt:lpstr>
      <vt:lpstr>PowerPoint Presentation</vt:lpstr>
      <vt:lpstr>PowerPoint Presentation</vt:lpstr>
      <vt:lpstr>Selected String Procedures</vt:lpstr>
      <vt:lpstr>PROTO DIRECTIVE</vt:lpstr>
      <vt:lpstr>EXAMPLE</vt:lpstr>
      <vt:lpstr>Str_compare Procedure</vt:lpstr>
      <vt:lpstr>Str_compare Procedure Source Code</vt:lpstr>
      <vt:lpstr>Str_length Procedure</vt:lpstr>
      <vt:lpstr>Str_length Procedure Source Code</vt:lpstr>
      <vt:lpstr>Str_copy Procedure</vt:lpstr>
      <vt:lpstr>Str_copy Procedure Source Code</vt:lpstr>
      <vt:lpstr>Str_trim Procedure</vt:lpstr>
      <vt:lpstr>Str_trim Procedure</vt:lpstr>
      <vt:lpstr>Str_trim Procedure</vt:lpstr>
      <vt:lpstr>Str_trim Procedure Source Code</vt:lpstr>
      <vt:lpstr>Str_ucase Procedure</vt:lpstr>
      <vt:lpstr>Str_ucase Procedure Source Code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EE-2003  Computer Organization &amp; Assembly Language</dc:title>
  <dc:creator>Aashir Mahboob</dc:creator>
  <cp:lastModifiedBy>Shoaib Rauf</cp:lastModifiedBy>
  <cp:revision>287</cp:revision>
  <dcterms:created xsi:type="dcterms:W3CDTF">2021-08-30T19:27:23Z</dcterms:created>
  <dcterms:modified xsi:type="dcterms:W3CDTF">2025-11-28T07:34:01Z</dcterms:modified>
</cp:coreProperties>
</file>